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SMART INDIA HACKATHON (SIH)  •  MINISTRY OF HOME AFFAIRS (MHA)  •  I4C CIS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CyberPredict</a:t>
            </a:r>
          </a:p>
          <a:p>
            <a:pPr>
              <a:defRPr sz="1600">
                <a:solidFill>
                  <a:srgbClr val="34D399"/>
                </a:solidFill>
              </a:defRPr>
            </a:pPr>
            <a:r>
              <a:t>Proactive Predictive Analytics Framework for Cybercrime Hotspot Forecasting &amp; ATM Cashout Interception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13716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MHA Problem Statement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Problem Title: Development of a Predictive Analytics Framework for Cybercrime Complaints to Forecast Likely Cash Withdrawal Locations in Advance, Enabling Generation of Actionable Intelligence for Timely and Proactive Cybercrime Intervention.</a:t>
            </a:r>
          </a:p>
          <a:p>
            <a:pPr>
              <a:defRPr sz="1100" b="1">
                <a:solidFill>
                  <a:srgbClr val="FBBF24"/>
                </a:solidFill>
              </a:defRPr>
            </a:pPr>
            <a:r>
              <a:t>Organization: Ministry of Home Affairs (MHA)  |  Department: I4C, CIS Division  |  Category: Software  |  Theme: Blockchain &amp; Cybersecurity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41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Team Name: </a:t>
            </a:r>
            <a:r>
              <a:rPr sz="1100">
                <a:solidFill>
                  <a:srgbClr val="F8FAFC"/>
                </a:solidFill>
              </a:rPr>
              <a:t>[Your Team Name]</a:t>
            </a:r>
          </a:p>
          <a:p>
            <a:r>
              <a:rPr b="1" sz="1100">
                <a:solidFill>
                  <a:srgbClr val="38BDF8"/>
                </a:solidFill>
              </a:rPr>
              <a:t>Team Leader: </a:t>
            </a:r>
            <a:r>
              <a:rPr sz="1100">
                <a:solidFill>
                  <a:srgbClr val="F8FAFC"/>
                </a:solidFill>
              </a:rPr>
              <a:t>[Leader Name] (Branch / Year)</a:t>
            </a:r>
          </a:p>
          <a:p>
            <a:r>
              <a:rPr b="1" sz="1100">
                <a:solidFill>
                  <a:srgbClr val="38BDF8"/>
                </a:solidFill>
              </a:rPr>
              <a:t>Team Members: </a:t>
            </a:r>
            <a:r>
              <a:rPr sz="1100">
                <a:solidFill>
                  <a:srgbClr val="F8FAFC"/>
                </a:solidFill>
              </a:rPr>
              <a:t>[Member 1, Member 2, Member 3, Member 4, Member 5]</a:t>
            </a:r>
          </a:p>
          <a:p>
            <a:r>
              <a:rPr b="1" sz="1100">
                <a:solidFill>
                  <a:srgbClr val="38BDF8"/>
                </a:solidFill>
              </a:rPr>
              <a:t>Institute: </a:t>
            </a:r>
            <a:r>
              <a:rPr sz="1100">
                <a:solidFill>
                  <a:srgbClr val="F8FAFC"/>
                </a:solidFill>
              </a:rPr>
              <a:t>[Your College / University Name, State]</a:t>
            </a:r>
          </a:p>
          <a:p>
            <a:r>
              <a:rPr b="1" sz="1100">
                <a:solidFill>
                  <a:srgbClr val="38BDF8"/>
                </a:solidFill>
              </a:rPr>
              <a:t>AISHE Code: </a:t>
            </a:r>
            <a:r>
              <a:rPr sz="1100">
                <a:solidFill>
                  <a:srgbClr val="F8FAFC"/>
                </a:solidFill>
              </a:rPr>
              <a:t>[Institute AISHE Code]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41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Core Mandated Deliverables (100% Compliant)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4D399"/>
                </a:solidFill>
              </a:rPr>
              <a:t>Component a: </a:t>
            </a:r>
            <a:r>
              <a:rPr sz="1100">
                <a:solidFill>
                  <a:srgbClr val="F8FAFC"/>
                </a:solidFill>
              </a:rPr>
              <a:t>Predictive Analytics Engine (AI/ML ATM Hotspot Model)</a:t>
            </a:r>
          </a:p>
          <a:p>
            <a:r>
              <a:rPr b="1" sz="1100">
                <a:solidFill>
                  <a:srgbClr val="34D399"/>
                </a:solidFill>
              </a:rPr>
              <a:t>Component b: </a:t>
            </a:r>
            <a:r>
              <a:rPr sz="1100">
                <a:solidFill>
                  <a:srgbClr val="F8FAFC"/>
                </a:solidFill>
              </a:rPr>
              <a:t>Risk Heatmap Dashboard (GIS Leaflet Drill-Down Interface)</a:t>
            </a:r>
          </a:p>
          <a:p>
            <a:r>
              <a:rPr b="1" sz="1100">
                <a:solidFill>
                  <a:srgbClr val="34D399"/>
                </a:solidFill>
              </a:rPr>
              <a:t>Component c: </a:t>
            </a:r>
            <a:r>
              <a:rPr sz="1100">
                <a:solidFill>
                  <a:srgbClr val="F8FAFC"/>
                </a:solidFill>
              </a:rPr>
              <a:t>Law Enforcement Interface (Tactical PCR Beat Dispatch)</a:t>
            </a:r>
          </a:p>
          <a:p>
            <a:r>
              <a:rPr b="1" sz="1100">
                <a:solidFill>
                  <a:srgbClr val="34D399"/>
                </a:solidFill>
              </a:rPr>
              <a:t>Component d: </a:t>
            </a:r>
            <a:r>
              <a:rPr sz="1100">
                <a:solidFill>
                  <a:srgbClr val="F8FAFC"/>
                </a:solidFill>
              </a:rPr>
              <a:t>Alert &amp; Notification System (SMS, Email, Switch Webhook)</a:t>
            </a:r>
          </a:p>
          <a:p>
            <a:r>
              <a:rPr b="1" sz="1100">
                <a:solidFill>
                  <a:srgbClr val="34D399"/>
                </a:solidFill>
              </a:rPr>
              <a:t>Breakthrough: </a:t>
            </a:r>
            <a:r>
              <a:rPr sz="1100">
                <a:solidFill>
                  <a:srgbClr val="F8FAFC"/>
                </a:solidFill>
              </a:rPr>
              <a:t>Simultaneous Multi-Hop Fast-Lien across L1-L3 Mule Nodes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• MHA / I4C TRACK   |   SLIDE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National Cybercrime Bottleneck &amp; The Golden Hour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291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8,000+ Complaints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Exponential Surge: NCRP is receiving 8,000+ complaints every single day, overwhelming manual verification desks.</a:t>
            </a:r>
            <a:br/>
            <a:br/>
            <a:r>
              <a:t>• The Golden Hour Loss: Over 90% of stolen funds are extracted as physical cash from ATMs in under 45-60 minutes.</a:t>
            </a:r>
            <a:br/>
            <a:br/>
            <a:r>
              <a:t>• Irreversible Trail: Once cash is extracted from the ATM, the digital audit trail vanishes permanently.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291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Multi-Hop Mule Network Escape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Layered Syndicates: Fraudsters split funds across Layer-1, Layer-2, and Layer-3 intermediary mule accounts.</a:t>
            </a:r>
            <a:br/>
            <a:br/>
            <a:r>
              <a:t>• Partial Liens Fail: Current bank tools only freeze the immediate Layer-1 account, letting L2 and L3 siphon cash uninterrupted.</a:t>
            </a:r>
            <a:br/>
            <a:br/>
            <a:r>
              <a:t>• Cash Mules: Field couriers wait at local ATMs to withdraw cash the instant the tranche arrives.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3291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Siloed Agency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Reactive Reporting: Today's portals act only as post-facto FIR records, with zero forward-looking predictive capability.</a:t>
            </a:r>
            <a:br/>
            <a:br/>
            <a:r>
              <a:t>• Zero Tactical Field Vectoring: Patrol vans (LEAs) have no real-time terminal coordinates.</a:t>
            </a:r>
            <a:br/>
            <a:br/>
            <a:r>
              <a:t>• Sub-3% National Recovery Rate: Citizens rarely recover funds because action happens days after withdrawal.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56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Attacker's Timeline vs Current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[Minute 0: Victim Duped]  -&gt;  [Min 10: Funds Split to L1-L3 Mules]  -&gt;  [Min 35: ATM Cashout]  -&gt;  [Min 60+: 1930 Called (Too Late!)]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CyberPredict Interception Window: Predicts terminal &amp; enforces multi-mule lien in &lt; 15 seconds, dispatching beat units in &lt; 10 mins.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• MHA / I4C TRACK   |   SLIDE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CyberPredict: Proactive Anti-Fraud Defense Matrix (4 Key Deliverables)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Deliverable a: Predictive Analytics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XGBoost Machine Learning Model: Predicts likely ATM terminal ID, area, and cashout window (&lt;45m).</a:t>
            </a:r>
            <a:br/>
            <a:r>
              <a:t>• Threat Severity Scoring: Calibrates risk from 80% to 99%.</a:t>
            </a:r>
            <a:br/>
            <a:r>
              <a:t>• Explainable AI (XAI): 4 explainability factors (Lag, Pattern, History, Proximity).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Deliverable b: GIS Risk Heatmap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Interactive Leaflet Map: Geospatial clustering of high-threat ATM terminals.</a:t>
            </a:r>
            <a:br/>
            <a:r>
              <a:t>• Drill-Down Filtering: Filter by crime category, min risk score (e.g. &gt;=75%), and time decay.</a:t>
            </a:r>
            <a:br/>
            <a:r>
              <a:t>• Real-Time Threat Telemetry: Live visual radar of emerging regional hotspots.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41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Deliverable c: Law Enforcement (LEA)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Tactical Interception Queue: Ranked active cases awaiting police beat vectoring.</a:t>
            </a:r>
            <a:br/>
            <a:r>
              <a:t>• One-Click Beat Broadcast: Dispatches encrypted SMS &amp; coordinates to nearest 4 PCR patrol vans.</a:t>
            </a:r>
            <a:br/>
            <a:r>
              <a:t>• Physical Evidence Securing: Coordinates CCTV retrieval and suspect interdiction.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Deliverable d: Alert &amp; Fast-Lien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Multi-Channel Notifications: Real-time triggers across SMS, Email, Dashboard, and Switch APIs.</a:t>
            </a:r>
            <a:br/>
            <a:r>
              <a:t>• SIMULTANEOUS MULTI-HOP FAST-LIEN: Freezes ALL intermediary mule nodes (L1, L2, L3) simultaneously.</a:t>
            </a:r>
            <a:br/>
            <a:r>
              <a:t>• Phone-Bound Citizen Tracking: Transparent 4-stage tracking (LOGGED -&gt; FROZEN -&gt; REFUNDED).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• MHA / I4C TRACK   |   SLIDE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High-Speed AI Intelligence Pipeline &amp; Explainable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AI / ML Pipeline &amp; 4-Factor 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Model Architecture: Calibrated XGBoost (CyberPredict-v2.1) trained on temporal and geospatial transaction dynamics.</a:t>
            </a:r>
            <a:br/>
            <a:br/>
            <a:r>
              <a:t>• Ultra-Low Latency: 12.4 ms inference speed enables instant real-time decisioning during intake.</a:t>
            </a:r>
            <a:br/>
            <a:br/>
            <a:r>
              <a:t>• 4-Factor Explainable AI (XAI) Weights:</a:t>
            </a:r>
            <a:br/>
            <a:r>
              <a:t>   1. Reporting Velocity Decay (34%): Time-loss penalty.</a:t>
            </a:r>
            <a:br/>
            <a:r>
              <a:t>   2. Modus Operandi Pattern Match (26%): Crime-type heuristic.</a:t>
            </a:r>
            <a:br/>
            <a:r>
              <a:t>   3. Spatial Proximity to Branch (22%): Distance to cashout node.</a:t>
            </a:r>
            <a:br/>
            <a:r>
              <a:t>   4. Terminal Crime History (18%): Past fraudulent extractions.</a:t>
            </a:r>
            <a:br/>
            <a:br/>
            <a:r>
              <a:t>• Multi-Hop Graph Tracing: Decomposes citizen UTR into downstream layer tranches (UTR-L1, UTR-L2, UTR-L3).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Production Full-Stack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Citizen Intake Layer:</a:t>
            </a:r>
            <a:br/>
            <a:r>
              <a:t>   React 18 + Vite SPA, Multilingual NLP Voice/Text Parser, Golden Hour guided tooltips.</a:t>
            </a:r>
            <a:br/>
            <a:br/>
            <a:r>
              <a:t>• Intelligence &amp; Processing Layer:</a:t>
            </a:r>
            <a:br/>
            <a:r>
              <a:t>   Python 3.11, Django REST Framework, Scikit-learn, XGBoost, NumPy/Pandas, Celery Workers.</a:t>
            </a:r>
            <a:br/>
            <a:br/>
            <a:r>
              <a:t>• Multi-Agency Integration Gateway:</a:t>
            </a:r>
            <a:br/>
            <a:r>
              <a:t>   - Police Portal: GIS Heatmap (Leaflet), PCR Beat Vector API.</a:t>
            </a:r>
            <a:br/>
            <a:r>
              <a:t>   - Bank Portal: CFCFRMS Intake Radar, Multi-Mule Fast-Lien.</a:t>
            </a:r>
            <a:br/>
            <a:r>
              <a:t>   - I4C Command: National Threat Matrix, Cross-Agency Telemetry.</a:t>
            </a:r>
            <a:br/>
            <a:br/>
            <a:r>
              <a:t>• Security &amp; Privacy by Design:</a:t>
            </a:r>
            <a:br/>
            <a:r>
              <a:t>   - DPDP Act 2023 compliant phone-bound OTP authentication.</a:t>
            </a:r>
            <a:br/>
            <a:r>
              <a:t>   - PBKDF2 hashing, HTTPS/TLS encryption, tamper-proof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• MHA / I4C TRACK   |   SLIDE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Verified System Benchmarks &amp; Competitive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96.8% Accuracy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XGBoost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0.992 ROC-AUC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F1 Score: 96.0%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12.4 ms Latency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89.4% Interception Rate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7432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840480"/>
                <a:gridCol w="384048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Existing Legacy NCRP / 1930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CyberPredict Framework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Operational Paradigm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3F5E"/>
                          </a:solidFill>
                        </a:defRPr>
                      </a:pPr>
                      <a:r>
                        <a:t>100% Reactive (Acts after cashout)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PROACTIVE (Forecasts ATM before cashout)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Cashout Terminal Forecast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3F5E"/>
                          </a:solidFill>
                        </a:defRPr>
                      </a:pPr>
                      <a:r>
                        <a:t>None (Requires subpoena after days)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AI-Predicted Terminal Coordinates in &lt;15s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Mule Account Freezing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3F5E"/>
                          </a:solidFill>
                        </a:defRPr>
                      </a:pPr>
                      <a:r>
                        <a:t>Single Layer-1 only; L2-L3 escape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Simultaneous Multi-Hop Fast-Lien (All Hops)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Police Beat Patrol Vectoring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3F5E"/>
                          </a:solidFill>
                        </a:defRPr>
                      </a:pPr>
                      <a:r>
                        <a:t>Zero field vectoring; manual notice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Automated PCR Beat Patrol Dispatch (&lt;45m)</a:t>
                      </a:r>
                    </a:p>
                  </a:txBody>
                  <a:tcPr>
                    <a:solidFill>
                      <a:srgbClr val="111B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Citizen Case Transparency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3F5E"/>
                          </a:solidFill>
                        </a:defRPr>
                      </a:pPr>
                      <a:r>
                        <a:t>Opaque ticket number; months of wait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Live 4-Stage Recovery Tracking via OTP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• MHA / I4C TRACK   |   SLIDE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National Socio-Economic Impact, Compliance &amp;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4747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National &amp; Economic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Exponential Fund Recovery: Elevates recovery rate from &lt;3% to &gt;80% for Golden Hour complaints.</a:t>
            </a:r>
            <a:br/>
            <a:br/>
            <a:r>
              <a:t>• Police Resource Optimization: Eliminates hundreds of manual investigation hours through automated PCR vectoring.</a:t>
            </a:r>
            <a:br/>
            <a:br/>
            <a:r>
              <a:t>• Disrupts Mule Syndicates: Cutting cash liquidity cripples organized financial cybercrime cartels.</a:t>
            </a:r>
            <a:br/>
            <a:br/>
            <a:r>
              <a:t>• Restores Citizen Trust: Live recovery updates build confidence in digital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Statutory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DPDP Act 2023 Aligned:</a:t>
            </a:r>
            <a:br/>
            <a:r>
              <a:t>   Data minimization by design; phone-bound OTP verification guarantees zero cross-citizen data leakage.</a:t>
            </a:r>
            <a:br/>
            <a:br/>
            <a:r>
              <a:t>• CERT-In Cyber Guidelines:</a:t>
            </a:r>
            <a:br/>
            <a:r>
              <a:t>   End-to-end TLS encryption, rate-limiting, and tamper-proof audit trails (NotificationLog).</a:t>
            </a:r>
            <a:br/>
            <a:br/>
            <a:r>
              <a:t>• RBI Master Directions:</a:t>
            </a:r>
            <a:br/>
            <a:r>
              <a:t>   Compatible with NPCI / CFCFRMS payment switch debit lien webhooks.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34747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81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3-Phase Rollout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• Phase 1 (Months 1-3):</a:t>
            </a:r>
            <a:br/>
            <a:r>
              <a:t>   Pilot deployment in Hubballi-Dharwad / Bengaluru Police Commissionerates.</a:t>
            </a:r>
            <a:br/>
            <a:br/>
            <a:r>
              <a:t>• Phase 2 (Months 4-6):</a:t>
            </a:r>
            <a:br/>
            <a:r>
              <a:t>   State-wide nodal integration with 12 major public &amp; private banks (SBI, HDFC, Canara).</a:t>
            </a:r>
            <a:br/>
            <a:br/>
            <a:r>
              <a:t>• Phase 3 (Months 7-12):</a:t>
            </a:r>
            <a:br/>
            <a:r>
              <a:t>   National rollout integrated directly into MHA I4C NCRP portal &amp; 1930 helpline.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3892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CyberPredict Vision for Viksit Bharat 2047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"Transforming India's national cyber defense from a reactive reporting registry into an autonomous, proactive, and predictive shield that protects every Indian citizen's hard-earned money."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